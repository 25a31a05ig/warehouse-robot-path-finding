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640080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PATH PLANNING  •  ALGORITHM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6492240" cy="13258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3400" b="1">
                <a:solidFill>
                  <a:srgbClr val="F5F8FF"/>
                </a:solidFill>
                <a:latin typeface="Aptos"/>
              </a:rPr>
              <a:t>Warehouse Robot
Pathfinding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5760720" cy="9144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700" b="0">
                <a:solidFill>
                  <a:srgbClr val="ABB8CD"/>
                </a:solidFill>
                <a:latin typeface="Aptos"/>
              </a:rPr>
              <a:t>An interactive environment for exploring how robots navigate warehouse grids using classic pathfinding algorithms.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069080"/>
            <a:ext cx="2286000" cy="530352"/>
          </a:xfrm>
          <a:prstGeom prst="round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15384"/>
            <a:ext cx="201168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/>
            <a:r>
              <a:rPr sz="1400" b="1">
                <a:solidFill>
                  <a:srgbClr val="2DD4BF"/>
                </a:solidFill>
                <a:latin typeface="Aptos"/>
              </a:rPr>
              <a:t>A*  •  BFS  •  DFS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0448"/>
            <a:ext cx="6400800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0">
                <a:solidFill>
                  <a:srgbClr val="ABB8CD"/>
                </a:solidFill>
                <a:latin typeface="Aptos"/>
              </a:rPr>
              <a:t>Developed by Ramesh Netheti  |  React + Vite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143000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35823" y="1143000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143000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1143000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23376" y="1143000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52559" y="1143000"/>
            <a:ext cx="306323" cy="306323"/>
          </a:xfrm>
          <a:prstGeom prst="rect">
            <a:avLst/>
          </a:prstGeom>
          <a:solidFill>
            <a:srgbClr val="42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81744" y="1143000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10928" y="1143000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40112" y="1143000"/>
            <a:ext cx="306323" cy="306323"/>
          </a:xfrm>
          <a:prstGeom prst="rect">
            <a:avLst/>
          </a:prstGeom>
          <a:solidFill>
            <a:srgbClr val="14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69296" y="1143000"/>
            <a:ext cx="306323" cy="306323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98480" y="1143000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1472184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35823" y="1472184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65008" y="1472184"/>
            <a:ext cx="306323" cy="306323"/>
          </a:xfrm>
          <a:prstGeom prst="rect">
            <a:avLst/>
          </a:prstGeom>
          <a:solidFill>
            <a:srgbClr val="42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94192" y="1472184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23376" y="1472184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59" y="1472184"/>
            <a:ext cx="306323" cy="306323"/>
          </a:xfrm>
          <a:prstGeom prst="rect">
            <a:avLst/>
          </a:prstGeom>
          <a:solidFill>
            <a:srgbClr val="42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81744" y="1472184"/>
            <a:ext cx="306323" cy="306323"/>
          </a:xfrm>
          <a:prstGeom prst="rect">
            <a:avLst/>
          </a:prstGeom>
          <a:solidFill>
            <a:srgbClr val="14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10928" y="1472184"/>
            <a:ext cx="306323" cy="306323"/>
          </a:xfrm>
          <a:prstGeom prst="rect">
            <a:avLst/>
          </a:prstGeom>
          <a:solidFill>
            <a:srgbClr val="14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40112" y="1472184"/>
            <a:ext cx="306323" cy="306323"/>
          </a:xfrm>
          <a:prstGeom prst="rect">
            <a:avLst/>
          </a:prstGeom>
          <a:solidFill>
            <a:srgbClr val="14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69296" y="1472184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698480" y="1472184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06640" y="1801368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35823" y="1801368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65008" y="1801368"/>
            <a:ext cx="306323" cy="306323"/>
          </a:xfrm>
          <a:prstGeom prst="rect">
            <a:avLst/>
          </a:prstGeom>
          <a:solidFill>
            <a:srgbClr val="42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94192" y="1801368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23376" y="1801368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52559" y="1801368"/>
            <a:ext cx="306323" cy="306323"/>
          </a:xfrm>
          <a:prstGeom prst="rect">
            <a:avLst/>
          </a:prstGeom>
          <a:solidFill>
            <a:srgbClr val="42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381744" y="1801368"/>
            <a:ext cx="306323" cy="306323"/>
          </a:xfrm>
          <a:prstGeom prst="rect">
            <a:avLst/>
          </a:prstGeom>
          <a:solidFill>
            <a:srgbClr val="14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710928" y="1801368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040112" y="1801368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369296" y="1801368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698480" y="1801368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06640" y="2130552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35823" y="2130552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65008" y="2130552"/>
            <a:ext cx="306323" cy="306323"/>
          </a:xfrm>
          <a:prstGeom prst="rect">
            <a:avLst/>
          </a:prstGeom>
          <a:solidFill>
            <a:srgbClr val="42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94192" y="2130552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23376" y="2130552"/>
            <a:ext cx="306323" cy="306323"/>
          </a:xfrm>
          <a:prstGeom prst="rect">
            <a:avLst/>
          </a:prstGeom>
          <a:solidFill>
            <a:srgbClr val="14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052559" y="2130552"/>
            <a:ext cx="306323" cy="306323"/>
          </a:xfrm>
          <a:prstGeom prst="rect">
            <a:avLst/>
          </a:prstGeom>
          <a:solidFill>
            <a:srgbClr val="14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381744" y="2130552"/>
            <a:ext cx="306323" cy="306323"/>
          </a:xfrm>
          <a:prstGeom prst="rect">
            <a:avLst/>
          </a:prstGeom>
          <a:solidFill>
            <a:srgbClr val="14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710928" y="2130552"/>
            <a:ext cx="306323" cy="306323"/>
          </a:xfrm>
          <a:prstGeom prst="rect">
            <a:avLst/>
          </a:prstGeom>
          <a:solidFill>
            <a:srgbClr val="42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040112" y="2130552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369296" y="2130552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698480" y="2130552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06640" y="2459736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735823" y="2459736"/>
            <a:ext cx="306323" cy="306323"/>
          </a:xfrm>
          <a:prstGeom prst="rect">
            <a:avLst/>
          </a:prstGeom>
          <a:solidFill>
            <a:srgbClr val="14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65008" y="2459736"/>
            <a:ext cx="306323" cy="306323"/>
          </a:xfrm>
          <a:prstGeom prst="rect">
            <a:avLst/>
          </a:prstGeom>
          <a:solidFill>
            <a:srgbClr val="14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394192" y="2459736"/>
            <a:ext cx="306323" cy="306323"/>
          </a:xfrm>
          <a:prstGeom prst="rect">
            <a:avLst/>
          </a:prstGeom>
          <a:solidFill>
            <a:srgbClr val="14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23376" y="2459736"/>
            <a:ext cx="306323" cy="306323"/>
          </a:xfrm>
          <a:prstGeom prst="rect">
            <a:avLst/>
          </a:prstGeom>
          <a:solidFill>
            <a:srgbClr val="14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052559" y="2459736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81744" y="2459736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710928" y="2459736"/>
            <a:ext cx="306323" cy="306323"/>
          </a:xfrm>
          <a:prstGeom prst="rect">
            <a:avLst/>
          </a:prstGeom>
          <a:solidFill>
            <a:srgbClr val="42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040112" y="2459736"/>
            <a:ext cx="306323" cy="306323"/>
          </a:xfrm>
          <a:prstGeom prst="rect">
            <a:avLst/>
          </a:prstGeom>
          <a:solidFill>
            <a:srgbClr val="42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369296" y="2459736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698480" y="2459736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406640" y="2788920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35823" y="2788920"/>
            <a:ext cx="306323" cy="306323"/>
          </a:xfrm>
          <a:prstGeom prst="rect">
            <a:avLst/>
          </a:prstGeom>
          <a:solidFill>
            <a:srgbClr val="14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65008" y="2788920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394192" y="2788920"/>
            <a:ext cx="306323" cy="306323"/>
          </a:xfrm>
          <a:prstGeom prst="rect">
            <a:avLst/>
          </a:prstGeom>
          <a:solidFill>
            <a:srgbClr val="42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23376" y="2788920"/>
            <a:ext cx="306323" cy="306323"/>
          </a:xfrm>
          <a:prstGeom prst="rect">
            <a:avLst/>
          </a:prstGeom>
          <a:solidFill>
            <a:srgbClr val="42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052559" y="2788920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381744" y="2788920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710928" y="2788920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040112" y="2788920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369296" y="2788920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698480" y="2788920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406640" y="3118104"/>
            <a:ext cx="306323" cy="306323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735823" y="3118104"/>
            <a:ext cx="306323" cy="306323"/>
          </a:xfrm>
          <a:prstGeom prst="rect">
            <a:avLst/>
          </a:prstGeom>
          <a:solidFill>
            <a:srgbClr val="14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65008" y="3118104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94192" y="3118104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23376" y="3118104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052559" y="3118104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381744" y="3118104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710928" y="3118104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040112" y="3118104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369296" y="3118104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698480" y="3118104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06640" y="3447288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35823" y="3447288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65008" y="3447288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94192" y="3447288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23376" y="3447288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052559" y="3447288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381744" y="3447288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710928" y="3447288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040112" y="3447288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369296" y="3447288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698480" y="3447288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406640" y="3776472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735823" y="3776472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65008" y="3776472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394192" y="3776472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23376" y="3776472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52559" y="3776472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381744" y="3776472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710928" y="3776472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040112" y="3776472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369296" y="3776472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698480" y="3776472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406640" y="4105656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735823" y="4105656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065008" y="4105656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394192" y="4105656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723376" y="4105656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052559" y="4105656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381744" y="4105656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710928" y="4105656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040112" y="4105656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369296" y="4105656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698480" y="4105656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406640" y="4434840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735823" y="4434840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065008" y="4434840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394192" y="4434840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723376" y="4434840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052559" y="4434840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9381744" y="4434840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710928" y="4434840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0040112" y="4434840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0369296" y="4434840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0698480" y="4434840"/>
            <a:ext cx="306323" cy="306323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315200" y="4983480"/>
            <a:ext cx="384048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/>
            <a:r>
              <a:rPr sz="1200" b="1">
                <a:solidFill>
                  <a:srgbClr val="2DD4BF"/>
                </a:solidFill>
                <a:latin typeface="Aptos"/>
              </a:rPr>
              <a:t>START  →  ROUTE  →  GOAL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315200" y="5394960"/>
            <a:ext cx="3840480" cy="5486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/>
            <a:r>
              <a:rPr sz="1200" b="0">
                <a:solidFill>
                  <a:srgbClr val="ABB8CD"/>
                </a:solidFill>
                <a:latin typeface="Aptos"/>
              </a:rPr>
              <a:t>Explore routes. Compare search behavior. Understand trade-offs.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01 /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486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Why build a pathfinding simulator?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300" b="0">
                <a:solidFill>
                  <a:srgbClr val="ABB8CD"/>
                </a:solidFill>
                <a:latin typeface="Aptos"/>
              </a:rPr>
              <a:t>Warehouse robots navigate constrained spaces while avoiding obstacles and reaching destinations.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3474720" cy="2286000"/>
          </a:xfrm>
          <a:prstGeom prst="roundRect">
            <a:avLst/>
          </a:prstGeom>
          <a:solidFill>
            <a:srgbClr val="17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3474720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87168"/>
            <a:ext cx="292608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Aptos"/>
              </a:rP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2926080" cy="10972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Find a valid route through shelves, blocked aisles, and changing grid layouts.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148840"/>
            <a:ext cx="3474720" cy="2286000"/>
          </a:xfrm>
          <a:prstGeom prst="roundRect">
            <a:avLst/>
          </a:prstGeom>
          <a:solidFill>
            <a:srgbClr val="17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2148840"/>
            <a:ext cx="347472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487168"/>
            <a:ext cx="292608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THE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971800"/>
            <a:ext cx="2926080" cy="10972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Represent the warehouse as a grid and run pathfinding algorithms on the same map.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148840"/>
            <a:ext cx="3474720" cy="2286000"/>
          </a:xfrm>
          <a:prstGeom prst="roundRect">
            <a:avLst/>
          </a:prstGeom>
          <a:solidFill>
            <a:srgbClr val="17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2148840"/>
            <a:ext cx="347472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2487168"/>
            <a:ext cx="292608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Aptos"/>
              </a:rPr>
              <a:t>THE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971800"/>
            <a:ext cx="2926080" cy="10972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Make algorithm behavior visible through route animation and performance metrics.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92040"/>
            <a:ext cx="10927080" cy="777240"/>
          </a:xfrm>
          <a:prstGeom prst="round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02352"/>
            <a:ext cx="10332720" cy="29260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ptos"/>
              </a:rPr>
              <a:t>Core idea: turn the warehouse layout into a graph, then search from start to goal.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8229600" cy="1828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800" b="0">
                <a:solidFill>
                  <a:srgbClr val="ABB8CD"/>
                </a:solidFill>
                <a:latin typeface="Aptos"/>
              </a:rPr>
              <a:t>WAREHOUSE ROBOT PATHFINDING SIMULATOR  •  PROJECT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/>
            <a:r>
              <a:rPr sz="1000" b="1">
                <a:solidFill>
                  <a:srgbClr val="2DD4BF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02 / KEY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486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An interactive warehouse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300" b="0">
                <a:solidFill>
                  <a:srgbClr val="ABB8CD"/>
                </a:solidFill>
                <a:latin typeface="Aptos"/>
              </a:rPr>
              <a:t>Map editing, algorithm selection, route visualization, and task-oriented controls work together.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57400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4712" y="2057400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17904" y="2057400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11095" y="2057400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04288" y="2057400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97480" y="2057400"/>
            <a:ext cx="370332" cy="370332"/>
          </a:xfrm>
          <a:prstGeom prst="rect">
            <a:avLst/>
          </a:prstGeom>
          <a:solidFill>
            <a:srgbClr val="42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90672" y="2057400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83863" y="2057400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77056" y="2057400"/>
            <a:ext cx="370332" cy="370332"/>
          </a:xfrm>
          <a:prstGeom prst="rect">
            <a:avLst/>
          </a:prstGeom>
          <a:solidFill>
            <a:srgbClr val="14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2057400"/>
            <a:ext cx="370332" cy="3703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450592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24712" y="2450592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17904" y="2450592"/>
            <a:ext cx="370332" cy="370332"/>
          </a:xfrm>
          <a:prstGeom prst="rect">
            <a:avLst/>
          </a:prstGeom>
          <a:solidFill>
            <a:srgbClr val="42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11095" y="2450592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04288" y="2450592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97480" y="2450592"/>
            <a:ext cx="370332" cy="370332"/>
          </a:xfrm>
          <a:prstGeom prst="rect">
            <a:avLst/>
          </a:prstGeom>
          <a:solidFill>
            <a:srgbClr val="42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090672" y="2450592"/>
            <a:ext cx="370332" cy="370332"/>
          </a:xfrm>
          <a:prstGeom prst="rect">
            <a:avLst/>
          </a:prstGeom>
          <a:solidFill>
            <a:srgbClr val="14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83863" y="2450592"/>
            <a:ext cx="370332" cy="370332"/>
          </a:xfrm>
          <a:prstGeom prst="rect">
            <a:avLst/>
          </a:prstGeom>
          <a:solidFill>
            <a:srgbClr val="14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77056" y="2450592"/>
            <a:ext cx="370332" cy="370332"/>
          </a:xfrm>
          <a:prstGeom prst="rect">
            <a:avLst/>
          </a:prstGeom>
          <a:solidFill>
            <a:srgbClr val="14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70248" y="2450592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2843784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24712" y="2843784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17904" y="2843784"/>
            <a:ext cx="370332" cy="370332"/>
          </a:xfrm>
          <a:prstGeom prst="rect">
            <a:avLst/>
          </a:prstGeom>
          <a:solidFill>
            <a:srgbClr val="42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911095" y="2843784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04288" y="2843784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97480" y="2843784"/>
            <a:ext cx="370332" cy="370332"/>
          </a:xfrm>
          <a:prstGeom prst="rect">
            <a:avLst/>
          </a:prstGeom>
          <a:solidFill>
            <a:srgbClr val="42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90672" y="2843784"/>
            <a:ext cx="370332" cy="370332"/>
          </a:xfrm>
          <a:prstGeom prst="rect">
            <a:avLst/>
          </a:prstGeom>
          <a:solidFill>
            <a:srgbClr val="14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83863" y="2843784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77056" y="2843784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70248" y="2843784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3236976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24712" y="3236976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517904" y="3236976"/>
            <a:ext cx="370332" cy="370332"/>
          </a:xfrm>
          <a:prstGeom prst="rect">
            <a:avLst/>
          </a:prstGeom>
          <a:solidFill>
            <a:srgbClr val="42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11095" y="3236976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304288" y="3236976"/>
            <a:ext cx="370332" cy="370332"/>
          </a:xfrm>
          <a:prstGeom prst="rect">
            <a:avLst/>
          </a:prstGeom>
          <a:solidFill>
            <a:srgbClr val="14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97480" y="3236976"/>
            <a:ext cx="370332" cy="370332"/>
          </a:xfrm>
          <a:prstGeom prst="rect">
            <a:avLst/>
          </a:prstGeom>
          <a:solidFill>
            <a:srgbClr val="14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090672" y="3236976"/>
            <a:ext cx="370332" cy="370332"/>
          </a:xfrm>
          <a:prstGeom prst="rect">
            <a:avLst/>
          </a:prstGeom>
          <a:solidFill>
            <a:srgbClr val="14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83863" y="3236976"/>
            <a:ext cx="370332" cy="370332"/>
          </a:xfrm>
          <a:prstGeom prst="rect">
            <a:avLst/>
          </a:prstGeom>
          <a:solidFill>
            <a:srgbClr val="42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77056" y="3236976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70248" y="3236976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1520" y="3630168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24712" y="3630168"/>
            <a:ext cx="370332" cy="370332"/>
          </a:xfrm>
          <a:prstGeom prst="rect">
            <a:avLst/>
          </a:prstGeom>
          <a:solidFill>
            <a:srgbClr val="14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517904" y="3630168"/>
            <a:ext cx="370332" cy="370332"/>
          </a:xfrm>
          <a:prstGeom prst="rect">
            <a:avLst/>
          </a:prstGeom>
          <a:solidFill>
            <a:srgbClr val="14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911095" y="3630168"/>
            <a:ext cx="370332" cy="370332"/>
          </a:xfrm>
          <a:prstGeom prst="rect">
            <a:avLst/>
          </a:prstGeom>
          <a:solidFill>
            <a:srgbClr val="14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304288" y="3630168"/>
            <a:ext cx="370332" cy="370332"/>
          </a:xfrm>
          <a:prstGeom prst="rect">
            <a:avLst/>
          </a:prstGeom>
          <a:solidFill>
            <a:srgbClr val="14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697480" y="3630168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090672" y="3630168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483863" y="3630168"/>
            <a:ext cx="370332" cy="370332"/>
          </a:xfrm>
          <a:prstGeom prst="rect">
            <a:avLst/>
          </a:prstGeom>
          <a:solidFill>
            <a:srgbClr val="42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877056" y="3630168"/>
            <a:ext cx="370332" cy="370332"/>
          </a:xfrm>
          <a:prstGeom prst="rect">
            <a:avLst/>
          </a:prstGeom>
          <a:solidFill>
            <a:srgbClr val="42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70248" y="3630168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1520" y="4023360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24712" y="4023360"/>
            <a:ext cx="370332" cy="370332"/>
          </a:xfrm>
          <a:prstGeom prst="rect">
            <a:avLst/>
          </a:prstGeom>
          <a:solidFill>
            <a:srgbClr val="14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517904" y="4023360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911095" y="4023360"/>
            <a:ext cx="370332" cy="370332"/>
          </a:xfrm>
          <a:prstGeom prst="rect">
            <a:avLst/>
          </a:prstGeom>
          <a:solidFill>
            <a:srgbClr val="42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304288" y="4023360"/>
            <a:ext cx="370332" cy="370332"/>
          </a:xfrm>
          <a:prstGeom prst="rect">
            <a:avLst/>
          </a:prstGeom>
          <a:solidFill>
            <a:srgbClr val="42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697480" y="4023360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090672" y="4023360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483863" y="4023360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877056" y="4023360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70248" y="4023360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31520" y="4416552"/>
            <a:ext cx="370332" cy="37033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24712" y="4416552"/>
            <a:ext cx="370332" cy="370332"/>
          </a:xfrm>
          <a:prstGeom prst="rect">
            <a:avLst/>
          </a:prstGeom>
          <a:solidFill>
            <a:srgbClr val="14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517904" y="4416552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911095" y="4416552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304288" y="4416552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697480" y="4416552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090672" y="4416552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483863" y="4416552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877056" y="4416552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270248" y="4416552"/>
            <a:ext cx="370332" cy="370332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983480"/>
            <a:ext cx="402336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000" b="0">
                <a:solidFill>
                  <a:srgbClr val="ABB8CD"/>
                </a:solidFill>
                <a:latin typeface="Aptos"/>
              </a:rPr>
              <a:t>Illustrative grid with obstacles and route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074920" y="2221992"/>
            <a:ext cx="109728" cy="10972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03520" y="2148840"/>
            <a:ext cx="5806440" cy="47548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Grid-based warehouse representation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074920" y="2724912"/>
            <a:ext cx="109728" cy="10972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303520" y="2651760"/>
            <a:ext cx="5806440" cy="47548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Obstacle placement and route experimentation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074920" y="3227832"/>
            <a:ext cx="109728" cy="10972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03520" y="3154680"/>
            <a:ext cx="5806440" cy="47548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Start and destination selection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074920" y="3730752"/>
            <a:ext cx="109728" cy="10972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303520" y="3657600"/>
            <a:ext cx="5806440" cy="47548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Animated search and robot movement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074920" y="4233672"/>
            <a:ext cx="109728" cy="10972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303520" y="4160520"/>
            <a:ext cx="5806440" cy="47548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Metrics panel for comparing algorithm runs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074920" y="4736592"/>
            <a:ext cx="109728" cy="10972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03520" y="4663440"/>
            <a:ext cx="5806440" cy="47548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Task queue concept for pickup / delivery workflows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6510528"/>
            <a:ext cx="8229600" cy="1828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800" b="0">
                <a:solidFill>
                  <a:srgbClr val="ABB8CD"/>
                </a:solidFill>
                <a:latin typeface="Aptos"/>
              </a:rPr>
              <a:t>WAREHOUSE ROBOT PATHFINDING SIMULATOR  •  PROJECT PRESENTATION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/>
            <a:r>
              <a:rPr sz="1000" b="1">
                <a:solidFill>
                  <a:srgbClr val="2DD4BF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03 /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486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Three algorithms, different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300" b="0">
                <a:solidFill>
                  <a:srgbClr val="ABB8CD"/>
                </a:solidFill>
                <a:latin typeface="Aptos"/>
              </a:rPr>
              <a:t>Run each algorithm on the same map to compare exploration and route outcomes.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3474720" cy="3154680"/>
          </a:xfrm>
          <a:prstGeom prst="roundRect">
            <a:avLst/>
          </a:prstGeom>
          <a:solidFill>
            <a:srgbClr val="17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04288"/>
            <a:ext cx="2834640" cy="4572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2700" b="1">
                <a:solidFill>
                  <a:srgbClr val="2DD4BF"/>
                </a:solidFill>
                <a:latin typeface="Aptos"/>
              </a:rPr>
              <a:t>A*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52928"/>
            <a:ext cx="283464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300" b="1">
                <a:solidFill>
                  <a:srgbClr val="F5F8FF"/>
                </a:solidFill>
                <a:latin typeface="Aptos"/>
              </a:rPr>
              <a:t>Heuristic-guided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37560"/>
            <a:ext cx="2926080" cy="8686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400" b="0">
                <a:solidFill>
                  <a:srgbClr val="ABB8CD"/>
                </a:solidFill>
                <a:latin typeface="Aptos"/>
              </a:rPr>
              <a:t>Uses path cost plus estimated distance to prioritize promising cells.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416552"/>
            <a:ext cx="2971800" cy="22860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572000"/>
            <a:ext cx="2926080" cy="4572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Often efficient with a suitable heuristic.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057400"/>
            <a:ext cx="3474720" cy="3154680"/>
          </a:xfrm>
          <a:prstGeom prst="roundRect">
            <a:avLst/>
          </a:prstGeom>
          <a:solidFill>
            <a:srgbClr val="17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304288"/>
            <a:ext cx="2834640" cy="4572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2700" b="1">
                <a:solidFill>
                  <a:srgbClr val="60A5FA"/>
                </a:solidFill>
                <a:latin typeface="Aptos"/>
              </a:rPr>
              <a:t>BFS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852928"/>
            <a:ext cx="283464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300" b="1">
                <a:solidFill>
                  <a:srgbClr val="F5F8FF"/>
                </a:solidFill>
                <a:latin typeface="Aptos"/>
              </a:rPr>
              <a:t>Breadth-first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337560"/>
            <a:ext cx="2926080" cy="8686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400" b="0">
                <a:solidFill>
                  <a:srgbClr val="ABB8CD"/>
                </a:solidFill>
                <a:latin typeface="Aptos"/>
              </a:rPr>
              <a:t>Explores level by level; finds a shortest path on an unweighted grid.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4416552"/>
            <a:ext cx="2971800" cy="22860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4572000"/>
            <a:ext cx="2926080" cy="4572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Aptos"/>
              </a:rPr>
              <a:t>Reliable baseline; may explore many cells.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2057400"/>
            <a:ext cx="3474720" cy="3154680"/>
          </a:xfrm>
          <a:prstGeom prst="roundRect">
            <a:avLst/>
          </a:prstGeom>
          <a:solidFill>
            <a:srgbClr val="17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2304288"/>
            <a:ext cx="2834640" cy="4572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2700" b="1">
                <a:solidFill>
                  <a:srgbClr val="F472B6"/>
                </a:solidFill>
                <a:latin typeface="Aptos"/>
              </a:rPr>
              <a:t>DFS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852928"/>
            <a:ext cx="283464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300" b="1">
                <a:solidFill>
                  <a:srgbClr val="F5F8FF"/>
                </a:solidFill>
                <a:latin typeface="Aptos"/>
              </a:rPr>
              <a:t>Depth-first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337560"/>
            <a:ext cx="2926080" cy="8686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400" b="0">
                <a:solidFill>
                  <a:srgbClr val="ABB8CD"/>
                </a:solidFill>
                <a:latin typeface="Aptos"/>
              </a:rPr>
              <a:t>Follows a branch deeply before backtracking.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49640" y="4416552"/>
            <a:ext cx="2971800" cy="22860"/>
          </a:xfrm>
          <a:prstGeom prst="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4572000"/>
            <a:ext cx="2926080" cy="4572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100" b="1">
                <a:solidFill>
                  <a:srgbClr val="F472B6"/>
                </a:solidFill>
                <a:latin typeface="Aptos"/>
              </a:rPr>
              <a:t>Demonstrates traversal; not guaranteed shortest.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8229600" cy="1828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800" b="0">
                <a:solidFill>
                  <a:srgbClr val="ABB8CD"/>
                </a:solidFill>
                <a:latin typeface="Aptos"/>
              </a:rPr>
              <a:t>WAREHOUSE ROBOT PATHFINDING SIMULATOR  •  PROJECT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/>
            <a:r>
              <a:rPr sz="1000" b="1">
                <a:solidFill>
                  <a:srgbClr val="2DD4BF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04 /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486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From warehouse map to robot 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300" b="0">
                <a:solidFill>
                  <a:srgbClr val="ABB8CD"/>
                </a:solidFill>
                <a:latin typeface="Aptos"/>
              </a:rPr>
              <a:t>A straightforward pipeline separates map configuration, search logic, and visual feedback.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331720"/>
            <a:ext cx="2057400" cy="2286000"/>
          </a:xfrm>
          <a:prstGeom prst="roundRect">
            <a:avLst/>
          </a:prstGeom>
          <a:solidFill>
            <a:srgbClr val="17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64592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1737360" cy="4572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Configure grid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84448"/>
            <a:ext cx="1737360" cy="7772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0">
                <a:solidFill>
                  <a:srgbClr val="ABB8CD"/>
                </a:solidFill>
                <a:latin typeface="Aptos"/>
              </a:rPr>
              <a:t>Set start, goal, and obstacles.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154680"/>
            <a:ext cx="22860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/>
            <a:r>
              <a:rPr sz="1800" b="1">
                <a:solidFill>
                  <a:srgbClr val="2DD4BF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2331720"/>
            <a:ext cx="2057400" cy="2286000"/>
          </a:xfrm>
          <a:prstGeom prst="roundRect">
            <a:avLst/>
          </a:prstGeom>
          <a:solidFill>
            <a:srgbClr val="17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72384" y="2560320"/>
            <a:ext cx="164592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384" y="2971800"/>
            <a:ext cx="1737360" cy="4572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Choose algorithm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2384" y="3584448"/>
            <a:ext cx="1737360" cy="7772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0">
                <a:solidFill>
                  <a:srgbClr val="ABB8CD"/>
                </a:solidFill>
                <a:latin typeface="Aptos"/>
              </a:rPr>
              <a:t>Select A*, BFS, or DFS.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2624" y="3154680"/>
            <a:ext cx="22860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/>
            <a:r>
              <a:rPr sz="1800" b="1">
                <a:solidFill>
                  <a:srgbClr val="2DD4BF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48656" y="2331720"/>
            <a:ext cx="2057400" cy="2286000"/>
          </a:xfrm>
          <a:prstGeom prst="roundRect">
            <a:avLst/>
          </a:prstGeom>
          <a:solidFill>
            <a:srgbClr val="17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13248" y="2560320"/>
            <a:ext cx="164592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3248" y="2971800"/>
            <a:ext cx="1737360" cy="4572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3248" y="3584448"/>
            <a:ext cx="1737360" cy="7772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0">
                <a:solidFill>
                  <a:srgbClr val="ABB8CD"/>
                </a:solidFill>
                <a:latin typeface="Aptos"/>
              </a:rPr>
              <a:t>Explore cells and track predecessors.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3154680"/>
            <a:ext cx="22860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/>
            <a:r>
              <a:rPr sz="1800" b="1">
                <a:solidFill>
                  <a:srgbClr val="2DD4BF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19" y="2331720"/>
            <a:ext cx="2057400" cy="2286000"/>
          </a:xfrm>
          <a:prstGeom prst="roundRect">
            <a:avLst/>
          </a:prstGeom>
          <a:solidFill>
            <a:srgbClr val="17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54111" y="2560320"/>
            <a:ext cx="164592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1" y="2971800"/>
            <a:ext cx="1737360" cy="4572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Reconstruct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1" y="3584448"/>
            <a:ext cx="1737360" cy="7772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0">
                <a:solidFill>
                  <a:srgbClr val="ABB8CD"/>
                </a:solidFill>
                <a:latin typeface="Aptos"/>
              </a:rPr>
              <a:t>Trace the route back from goal.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74351" y="3154680"/>
            <a:ext cx="22860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/>
            <a:r>
              <a:rPr sz="1800" b="1">
                <a:solidFill>
                  <a:srgbClr val="2DD4BF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30384" y="2331720"/>
            <a:ext cx="2057400" cy="2286000"/>
          </a:xfrm>
          <a:prstGeom prst="roundRect">
            <a:avLst/>
          </a:prstGeom>
          <a:solidFill>
            <a:srgbClr val="17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94976" y="2560320"/>
            <a:ext cx="164592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94976" y="2971800"/>
            <a:ext cx="1737360" cy="4572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Visualize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94976" y="3584448"/>
            <a:ext cx="1737360" cy="7772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0">
                <a:solidFill>
                  <a:srgbClr val="ABB8CD"/>
                </a:solidFill>
                <a:latin typeface="Aptos"/>
              </a:rPr>
              <a:t>Show route, explored cells, and metrics.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074920"/>
            <a:ext cx="10927080" cy="640080"/>
          </a:xfrm>
          <a:prstGeom prst="round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257800"/>
            <a:ext cx="10424160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Output: an animated route and measurable search behavior for comparison.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10528"/>
            <a:ext cx="8229600" cy="1828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800" b="0">
                <a:solidFill>
                  <a:srgbClr val="ABB8CD"/>
                </a:solidFill>
                <a:latin typeface="Aptos"/>
              </a:rPr>
              <a:t>WAREHOUSE ROBOT PATHFINDING SIMULATOR  •  PROJECT PRESENTATION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/>
            <a:r>
              <a:rPr sz="1000" b="1">
                <a:solidFill>
                  <a:srgbClr val="2DD4BF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05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486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Lightweight frontend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300" b="0">
                <a:solidFill>
                  <a:srgbClr val="ABB8CD"/>
                </a:solidFill>
                <a:latin typeface="Aptos"/>
              </a:rPr>
              <a:t>A modular React + Vite structure keeps algorithm logic separate from interface components.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880360" cy="749808"/>
          </a:xfrm>
          <a:prstGeom prst="round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322576"/>
            <a:ext cx="2660904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React UI Components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103120"/>
            <a:ext cx="2880360" cy="749808"/>
          </a:xfrm>
          <a:prstGeom prst="round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73168" y="2322576"/>
            <a:ext cx="2660904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Pathfinding Algorithms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2103120"/>
            <a:ext cx="2880360" cy="749808"/>
          </a:xfrm>
          <a:prstGeom prst="round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05088" y="2322576"/>
            <a:ext cx="2660904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Grid Utilities &amp; Data Structures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04288"/>
            <a:ext cx="68580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/>
            <a:r>
              <a:rPr sz="2000" b="1">
                <a:solidFill>
                  <a:srgbClr val="2DD4BF"/>
                </a:solidFill>
                <a:latin typeface="Aptos"/>
              </a:rPr>
              <a:t>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304288"/>
            <a:ext cx="68580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/>
            <a:r>
              <a:rPr sz="2000" b="1">
                <a:solidFill>
                  <a:srgbClr val="2DD4BF"/>
                </a:solidFill>
                <a:latin typeface="Aptos"/>
              </a:rPr>
              <a:t>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19272"/>
            <a:ext cx="109728" cy="10972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246120"/>
            <a:ext cx="2514600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WarehouseGrid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730752"/>
            <a:ext cx="109728" cy="10972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657600"/>
            <a:ext cx="2514600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ControlPanel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142232"/>
            <a:ext cx="109728" cy="10972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069080"/>
            <a:ext cx="2514600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MetricsPanel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553712"/>
            <a:ext cx="109728" cy="10972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480560"/>
            <a:ext cx="2514600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TaskManager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3319272"/>
            <a:ext cx="109728" cy="10972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3246120"/>
            <a:ext cx="2514600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A* search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3730752"/>
            <a:ext cx="109728" cy="10972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3657600"/>
            <a:ext cx="2514600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BFS traversal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4142232"/>
            <a:ext cx="109728" cy="10972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80" y="4069080"/>
            <a:ext cx="2514600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DFS traversal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0" y="4553712"/>
            <a:ext cx="109728" cy="10972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4480560"/>
            <a:ext cx="2514600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Path reconstruction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3319272"/>
            <a:ext cx="109728" cy="10972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5400" y="3246120"/>
            <a:ext cx="2514600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Queue / priority queue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0" y="3730752"/>
            <a:ext cx="109728" cy="10972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5400" y="3657600"/>
            <a:ext cx="2514600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Grid helpers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0" y="4142232"/>
            <a:ext cx="109728" cy="10972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4069080"/>
            <a:ext cx="2514600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Obstacle handling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0" y="4553712"/>
            <a:ext cx="109728" cy="10972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15400" y="4480560"/>
            <a:ext cx="2514600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Reusable logic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166360"/>
            <a:ext cx="10652760" cy="548640"/>
          </a:xfrm>
          <a:prstGeom prst="roundRect">
            <a:avLst/>
          </a:prstGeom>
          <a:solidFill>
            <a:srgbClr val="17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5321808"/>
            <a:ext cx="1024128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/>
            <a:r>
              <a:rPr sz="1300" b="1">
                <a:solidFill>
                  <a:srgbClr val="2DD4BF"/>
                </a:solidFill>
                <a:latin typeface="Aptos"/>
              </a:rPr>
              <a:t>Stack: React  •  Vite  •  JavaScript  •  CSS  •  GitHub  •  Vercel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510528"/>
            <a:ext cx="8229600" cy="1828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800" b="0">
                <a:solidFill>
                  <a:srgbClr val="ABB8CD"/>
                </a:solidFill>
                <a:latin typeface="Aptos"/>
              </a:rPr>
              <a:t>WAREHOUSE ROBOT PATHFINDING SIMULATOR  •  PROJECT PRESENTATION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/>
            <a:r>
              <a:rPr sz="1000" b="1">
                <a:solidFill>
                  <a:srgbClr val="2DD4BF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06 /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486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How performance can be compared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300" b="0">
                <a:solidFill>
                  <a:srgbClr val="ABB8CD"/>
                </a:solidFill>
                <a:latin typeface="Aptos"/>
              </a:rPr>
              <a:t>Use consistent start / goal positions and obstacle layouts for fair comparisons.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2148840" cy="475488"/>
          </a:xfrm>
          <a:prstGeom prst="round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76272"/>
            <a:ext cx="1929384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Metric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53512" y="2057400"/>
            <a:ext cx="4114800" cy="475488"/>
          </a:xfrm>
          <a:prstGeom prst="round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2176272"/>
            <a:ext cx="3895344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What it indicates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41464" y="2057400"/>
            <a:ext cx="4297680" cy="475488"/>
          </a:xfrm>
          <a:prstGeom prst="round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51192" y="2176272"/>
            <a:ext cx="4078224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Why it matters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51760"/>
            <a:ext cx="2148840" cy="512064"/>
          </a:xfrm>
          <a:prstGeom prst="roundRect">
            <a:avLst/>
          </a:prstGeom>
          <a:solidFill>
            <a:srgbClr val="17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770632"/>
            <a:ext cx="1929384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1">
                <a:solidFill>
                  <a:srgbClr val="F5F8FF"/>
                </a:solidFill>
                <a:latin typeface="Aptos"/>
              </a:rPr>
              <a:t>Path length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3512" y="2651760"/>
            <a:ext cx="4114800" cy="512064"/>
          </a:xfrm>
          <a:prstGeom prst="roundRect">
            <a:avLst/>
          </a:prstGeom>
          <a:solidFill>
            <a:srgbClr val="17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2770632"/>
            <a:ext cx="3895344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0">
                <a:solidFill>
                  <a:srgbClr val="ABB8CD"/>
                </a:solidFill>
                <a:latin typeface="Aptos"/>
              </a:rPr>
              <a:t>Number of steps in the final route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41464" y="2651760"/>
            <a:ext cx="4297680" cy="512064"/>
          </a:xfrm>
          <a:prstGeom prst="roundRect">
            <a:avLst/>
          </a:prstGeom>
          <a:solidFill>
            <a:srgbClr val="17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51192" y="2770632"/>
            <a:ext cx="4078224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0">
                <a:solidFill>
                  <a:srgbClr val="ABB8CD"/>
                </a:solidFill>
                <a:latin typeface="Aptos"/>
              </a:rPr>
              <a:t>Shows route efficiency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91839"/>
            <a:ext cx="2148840" cy="512064"/>
          </a:xfrm>
          <a:prstGeom prst="roundRect">
            <a:avLst/>
          </a:prstGeom>
          <a:solidFill>
            <a:srgbClr val="17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410711"/>
            <a:ext cx="1929384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1">
                <a:solidFill>
                  <a:srgbClr val="F5F8FF"/>
                </a:solidFill>
                <a:latin typeface="Aptos"/>
              </a:rPr>
              <a:t>Nodes explored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53512" y="3291839"/>
            <a:ext cx="4114800" cy="512064"/>
          </a:xfrm>
          <a:prstGeom prst="roundRect">
            <a:avLst/>
          </a:prstGeom>
          <a:solidFill>
            <a:srgbClr val="17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3240" y="3410711"/>
            <a:ext cx="3895344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0">
                <a:solidFill>
                  <a:srgbClr val="ABB8CD"/>
                </a:solidFill>
                <a:latin typeface="Aptos"/>
              </a:rPr>
              <a:t>Cells visited during search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41464" y="3291839"/>
            <a:ext cx="4297680" cy="512064"/>
          </a:xfrm>
          <a:prstGeom prst="roundRect">
            <a:avLst/>
          </a:prstGeom>
          <a:solidFill>
            <a:srgbClr val="17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51192" y="3410711"/>
            <a:ext cx="4078224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0">
                <a:solidFill>
                  <a:srgbClr val="ABB8CD"/>
                </a:solidFill>
                <a:latin typeface="Aptos"/>
              </a:rPr>
              <a:t>Indicates search effort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931920"/>
            <a:ext cx="2148840" cy="512064"/>
          </a:xfrm>
          <a:prstGeom prst="roundRect">
            <a:avLst/>
          </a:prstGeom>
          <a:solidFill>
            <a:srgbClr val="17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050791"/>
            <a:ext cx="1929384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1">
                <a:solidFill>
                  <a:srgbClr val="F5F8FF"/>
                </a:solidFill>
                <a:latin typeface="Aptos"/>
              </a:rPr>
              <a:t>Execution 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53512" y="3931920"/>
            <a:ext cx="4114800" cy="512064"/>
          </a:xfrm>
          <a:prstGeom prst="roundRect">
            <a:avLst/>
          </a:prstGeom>
          <a:solidFill>
            <a:srgbClr val="17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63240" y="4050791"/>
            <a:ext cx="3895344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0">
                <a:solidFill>
                  <a:srgbClr val="ABB8CD"/>
                </a:solidFill>
                <a:latin typeface="Aptos"/>
              </a:rPr>
              <a:t>Time taken by the algorithm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41464" y="3931920"/>
            <a:ext cx="4297680" cy="512064"/>
          </a:xfrm>
          <a:prstGeom prst="roundRect">
            <a:avLst/>
          </a:prstGeom>
          <a:solidFill>
            <a:srgbClr val="17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51192" y="4050791"/>
            <a:ext cx="4078224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0">
                <a:solidFill>
                  <a:srgbClr val="ABB8CD"/>
                </a:solidFill>
                <a:latin typeface="Aptos"/>
              </a:rPr>
              <a:t>Helps compare responsiveness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572000"/>
            <a:ext cx="2148840" cy="512064"/>
          </a:xfrm>
          <a:prstGeom prst="roundRect">
            <a:avLst/>
          </a:prstGeom>
          <a:solidFill>
            <a:srgbClr val="17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4690872"/>
            <a:ext cx="1929384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1">
                <a:solidFill>
                  <a:srgbClr val="F5F8FF"/>
                </a:solidFill>
                <a:latin typeface="Aptos"/>
              </a:rPr>
              <a:t>Path found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53512" y="4572000"/>
            <a:ext cx="4114800" cy="512064"/>
          </a:xfrm>
          <a:prstGeom prst="roundRect">
            <a:avLst/>
          </a:prstGeom>
          <a:solidFill>
            <a:srgbClr val="17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63240" y="4690872"/>
            <a:ext cx="3895344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0">
                <a:solidFill>
                  <a:srgbClr val="ABB8CD"/>
                </a:solidFill>
                <a:latin typeface="Aptos"/>
              </a:rPr>
              <a:t>Whether a valid route exists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41464" y="4572000"/>
            <a:ext cx="4297680" cy="512064"/>
          </a:xfrm>
          <a:prstGeom prst="roundRect">
            <a:avLst/>
          </a:prstGeom>
          <a:solidFill>
            <a:srgbClr val="17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51192" y="4690872"/>
            <a:ext cx="4078224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0">
                <a:solidFill>
                  <a:srgbClr val="ABB8CD"/>
                </a:solidFill>
                <a:latin typeface="Aptos"/>
              </a:rPr>
              <a:t>Handles unreachable goals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0704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100" b="0">
                <a:solidFill>
                  <a:srgbClr val="FBBF24"/>
                </a:solidFill>
                <a:latin typeface="Aptos"/>
              </a:rPr>
              <a:t>Measured results depend on grid size, obstacle placement, implementation, and device.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10528"/>
            <a:ext cx="8229600" cy="1828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800" b="0">
                <a:solidFill>
                  <a:srgbClr val="ABB8CD"/>
                </a:solidFill>
                <a:latin typeface="Aptos"/>
              </a:rPr>
              <a:t>WAREHOUSE ROBOT PATHFINDING SIMULATOR  •  PROJECT PRESENTATION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/>
            <a:r>
              <a:rPr sz="1000" b="1">
                <a:solidFill>
                  <a:srgbClr val="2DD4BF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07 /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486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Try the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300" b="0">
                <a:solidFill>
                  <a:srgbClr val="ABB8CD"/>
                </a:solidFill>
                <a:latin typeface="Aptos"/>
              </a:rPr>
              <a:t>Explore the deployed app, inspect the implementation, and experiment with different maps.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6492240" cy="2240280"/>
          </a:xfrm>
          <a:prstGeom prst="roundRect">
            <a:avLst/>
          </a:prstGeom>
          <a:solidFill>
            <a:srgbClr val="17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68880"/>
            <a:ext cx="576072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26080"/>
            <a:ext cx="5806440" cy="5943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2000" b="1">
                <a:solidFill>
                  <a:srgbClr val="F5F8FF"/>
                </a:solidFill>
                <a:latin typeface="Aptos"/>
              </a:rPr>
              <a:t>ware-house-robot-path-finding.vercel.app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657600"/>
            <a:ext cx="566928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0">
                <a:solidFill>
                  <a:srgbClr val="ABB8CD"/>
                </a:solidFill>
                <a:latin typeface="Aptos"/>
              </a:rPr>
              <a:t>Open the deployed application in your browser.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148840"/>
            <a:ext cx="3749039" cy="2240280"/>
          </a:xfrm>
          <a:prstGeom prst="roundRect">
            <a:avLst/>
          </a:prstGeom>
          <a:solidFill>
            <a:srgbClr val="17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2468880"/>
            <a:ext cx="301752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Aptos"/>
              </a:rPr>
              <a:t>SOURCE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926080"/>
            <a:ext cx="3063240" cy="5943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2000" b="1">
                <a:solidFill>
                  <a:srgbClr val="F5F8FF"/>
                </a:solidFill>
                <a:latin typeface="Aptos"/>
              </a:rPr>
              <a:t>GitHub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657600"/>
            <a:ext cx="301752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300" b="0">
                <a:solidFill>
                  <a:srgbClr val="ABB8CD"/>
                </a:solidFill>
                <a:latin typeface="Aptos"/>
              </a:rPr>
              <a:t>25A31A05IG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00600"/>
            <a:ext cx="10652760" cy="731520"/>
          </a:xfrm>
          <a:prstGeom prst="roundRect">
            <a:avLst/>
          </a:prstGeom>
          <a:solidFill>
            <a:srgbClr val="1F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010912"/>
            <a:ext cx="10149840" cy="29260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Demo flow: create obstacles → choose an algorithm → visualize the route → compare metrics.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8229600" cy="1828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800" b="0">
                <a:solidFill>
                  <a:srgbClr val="ABB8CD"/>
                </a:solidFill>
                <a:latin typeface="Aptos"/>
              </a:rPr>
              <a:t>WAREHOUSE ROBOT PATHFINDING SIMULATOR  •  PROJECT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/>
            <a:r>
              <a:rPr sz="1000" b="1">
                <a:solidFill>
                  <a:srgbClr val="2DD4BF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08 /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486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ptos"/>
              </a:rPr>
              <a:t>A practical learning tool for intelligent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972800" cy="5029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300" b="0">
                <a:solidFill>
                  <a:srgbClr val="ABB8CD"/>
                </a:solidFill>
                <a:latin typeface="Aptos"/>
              </a:rPr>
              <a:t>The simulator makes classic pathfinding concepts easier to observe, compare, and explain.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3429000" cy="1691640"/>
          </a:xfrm>
          <a:prstGeom prst="roundRect">
            <a:avLst/>
          </a:prstGeom>
          <a:solidFill>
            <a:srgbClr val="17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514600"/>
            <a:ext cx="301752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VISUAL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971800"/>
            <a:ext cx="3017520" cy="6858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See how algorithms explore a map instead of treating them as black boxes.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240280"/>
            <a:ext cx="3429000" cy="1691640"/>
          </a:xfrm>
          <a:prstGeom prst="roundRect">
            <a:avLst/>
          </a:prstGeom>
          <a:solidFill>
            <a:srgbClr val="17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8" y="2514600"/>
            <a:ext cx="301752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Aptos"/>
              </a:rPr>
              <a:t>MODULAR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2971800"/>
            <a:ext cx="3017520" cy="6858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Keep interface, algorithm implementations, and grid utilities organized.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240280"/>
            <a:ext cx="3429000" cy="1691640"/>
          </a:xfrm>
          <a:prstGeom prst="roundRect">
            <a:avLst/>
          </a:prstGeom>
          <a:solidFill>
            <a:srgbClr val="17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22208" y="2514600"/>
            <a:ext cx="301752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Aptos"/>
              </a:rPr>
              <a:t>EXTENSIBLE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2208" y="2971800"/>
            <a:ext cx="3017520" cy="6858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400" b="0">
                <a:solidFill>
                  <a:srgbClr val="F5F8FF"/>
                </a:solidFill>
                <a:latin typeface="Aptos"/>
              </a:rPr>
              <a:t>Build toward more realistic warehouse routing experiments.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72000"/>
            <a:ext cx="10515600" cy="4572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1400" b="0">
                <a:solidFill>
                  <a:srgbClr val="ABB8CD"/>
                </a:solidFill>
                <a:latin typeface="Aptos"/>
              </a:rPr>
              <a:t>Future scope: multi-robot coordination, weighted terrain, dynamic obstacles, and richer benchmarking.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94960"/>
            <a:ext cx="10515600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2100" b="1">
                <a:solidFill>
                  <a:srgbClr val="2DD4BF"/>
                </a:solidFill>
                <a:latin typeface="Aptos"/>
              </a:rPr>
              <a:t>Thank you  •  Questions?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8229600" cy="1828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/>
            <a:r>
              <a:rPr sz="800" b="0">
                <a:solidFill>
                  <a:srgbClr val="ABB8CD"/>
                </a:solidFill>
                <a:latin typeface="Aptos"/>
              </a:rPr>
              <a:t>WAREHOUSE ROBOT PATHFINDING SIMULATOR  •  PROJECT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/>
            <a:r>
              <a:rPr sz="1000" b="1">
                <a:solidFill>
                  <a:srgbClr val="2DD4BF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